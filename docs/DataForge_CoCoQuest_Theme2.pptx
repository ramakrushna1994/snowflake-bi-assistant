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381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2B02E"/>
                </a:solidFill>
                <a:latin typeface="Segoe UI"/>
              </a:rPr>
              <a:t>CoCo Quest  ·  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74519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FFFFFF"/>
                </a:solidFill>
                <a:latin typeface="Segoe UI"/>
              </a:rPr>
              <a:t>DataForge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37B6FF"/>
                </a:solidFill>
                <a:latin typeface="Segoe UI"/>
              </a:rPr>
              <a:t>Ask your data anything — in plain English.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976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C7D2E0"/>
                </a:solidFill>
                <a:latin typeface="Segoe UI"/>
              </a:rPr>
              <a:t>A conversational BI assistant built natively on Snowflake Cortex.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C7D2E0"/>
                </a:solidFill>
                <a:latin typeface="Segoe UI"/>
              </a:rPr>
              <a:t>Natural-language questions in — governed SQL, charts and trusted answers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5A6778"/>
                </a:solidFill>
                <a:latin typeface="Segoe UI"/>
              </a:rPr>
              <a:t>Theme 2 — Conversational BI Assistant   |   Sales · HR ·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7B6FF"/>
                </a:solidFill>
                <a:latin typeface="Segoe UI"/>
              </a:rPr>
              <a:t>WHY WE FIT 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We didn't just meet Theme 2 — we raised the 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86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636776"/>
            <a:ext cx="384048" cy="384048"/>
          </a:xfrm>
          <a:prstGeom prst="ellipse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367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56362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Ask in natural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984248"/>
            <a:ext cx="4617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778"/>
                </a:solidFill>
                <a:latin typeface="Segoe UI"/>
              </a:rPr>
              <a:t>Full chat UI with conversation memory — ask, then follow 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5080" y="1636776"/>
            <a:ext cx="384048" cy="384048"/>
          </a:xfrm>
          <a:prstGeom prst="ellipse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367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2" y="156362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Cortex LLM →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2" y="1984248"/>
            <a:ext cx="4617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778"/>
                </a:solidFill>
                <a:latin typeface="Segoe UI"/>
              </a:rPr>
              <a:t>Snowflake Cortex generates the SQL; nothing leaves the platform.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98648"/>
            <a:ext cx="5486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118104"/>
            <a:ext cx="384048" cy="384048"/>
          </a:xfrm>
          <a:prstGeom prst="ellipse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1810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04495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Charts / tables / summaries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465576"/>
            <a:ext cx="4617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778"/>
                </a:solidFill>
                <a:latin typeface="Segoe UI"/>
              </a:rPr>
              <a:t>Every answer: data table + auto-chart + plain-English summary.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898648"/>
            <a:ext cx="5486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5080" y="3118104"/>
            <a:ext cx="384048" cy="384048"/>
          </a:xfrm>
          <a:prstGeom prst="ellipse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11810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304495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"Top 5 products last month?"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3465576"/>
            <a:ext cx="4617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778"/>
                </a:solidFill>
                <a:latin typeface="Segoe UI"/>
              </a:rPr>
              <a:t>The exact example works live — see the next slide.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79976"/>
            <a:ext cx="5486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4599432"/>
            <a:ext cx="384048" cy="384048"/>
          </a:xfrm>
          <a:prstGeom prst="ellipse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9943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45262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Democratizes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4946904"/>
            <a:ext cx="4617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778"/>
                </a:solidFill>
                <a:latin typeface="Segoe UI"/>
              </a:rPr>
              <a:t>Any business user self-serves — no SQL, no analyst queue.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379976"/>
            <a:ext cx="5486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55080" y="4599432"/>
            <a:ext cx="384048" cy="384048"/>
          </a:xfrm>
          <a:prstGeom prst="ellipse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59943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45262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Sales / HR / Finance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5432" y="4946904"/>
            <a:ext cx="4617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778"/>
                </a:solidFill>
                <a:latin typeface="Segoe UI"/>
              </a:rPr>
              <a:t>All three domains, 13 curated views + open-ended SQL.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DataForge  ·  CoCo Quest · Theme 2: Conversational BI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7B6FF"/>
                </a:solidFill>
                <a:latin typeface="Segoe U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Data is everywhere — answers are stuck in a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700" b="1">
                <a:solidFill>
                  <a:srgbClr val="14243A"/>
                </a:solidFill>
                <a:latin typeface="Segoe UI"/>
              </a:rPr>
              <a:t>•  Analysts are the bottleneck.  </a:t>
            </a:r>
            <a:r>
              <a:rPr sz="1700">
                <a:solidFill>
                  <a:srgbClr val="5A6778"/>
                </a:solidFill>
                <a:latin typeface="Segoe UI"/>
              </a:rPr>
              <a:t>Every ad-hoc question becomes a ticket.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700" b="1">
                <a:solidFill>
                  <a:srgbClr val="14243A"/>
                </a:solidFill>
                <a:latin typeface="Segoe UI"/>
              </a:rPr>
              <a:t>•  Decisions slow down.  </a:t>
            </a:r>
            <a:r>
              <a:rPr sz="1700">
                <a:solidFill>
                  <a:srgbClr val="5A6778"/>
                </a:solidFill>
                <a:latin typeface="Segoe UI"/>
              </a:rPr>
              <a:t>Days between a question and an answer.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700" b="1">
                <a:solidFill>
                  <a:srgbClr val="14243A"/>
                </a:solidFill>
                <a:latin typeface="Segoe UI"/>
              </a:rPr>
              <a:t>•  SQL is a barrier.  </a:t>
            </a:r>
            <a:r>
              <a:rPr sz="1700">
                <a:solidFill>
                  <a:srgbClr val="5A6778"/>
                </a:solidFill>
                <a:latin typeface="Segoe UI"/>
              </a:rPr>
              <a:t>Business users can't self-serve on the warehouse.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700" b="1">
                <a:solidFill>
                  <a:srgbClr val="14243A"/>
                </a:solidFill>
                <a:latin typeface="Segoe UI"/>
              </a:rPr>
              <a:t>•  Numbers drift.  </a:t>
            </a:r>
            <a:r>
              <a:rPr sz="1700">
                <a:solidFill>
                  <a:srgbClr val="5A6778"/>
                </a:solidFill>
                <a:latin typeface="Segoe UI"/>
              </a:rPr>
              <a:t>Spreadsheet copies diverge from the source of truth.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700" b="1">
                <a:solidFill>
                  <a:srgbClr val="14243A"/>
                </a:solidFill>
                <a:latin typeface="Segoe UI"/>
              </a:rPr>
              <a:t>•  Data leaves the platform.  </a:t>
            </a:r>
            <a:r>
              <a:rPr sz="1700">
                <a:solidFill>
                  <a:srgbClr val="5A6778"/>
                </a:solidFill>
                <a:latin typeface="Segoe UI"/>
              </a:rPr>
              <a:t>Exports create security and governance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554480"/>
            <a:ext cx="502920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Today: a question takes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>
                <a:solidFill>
                  <a:srgbClr val="5A6778"/>
                </a:solidFill>
                <a:latin typeface="Segoe UI"/>
              </a:rPr>
              <a:t>→  Business user emails a question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>
                <a:solidFill>
                  <a:srgbClr val="5A6778"/>
                </a:solidFill>
                <a:latin typeface="Segoe UI"/>
              </a:rPr>
              <a:t>→  Waits for a free analyst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>
                <a:solidFill>
                  <a:srgbClr val="5A6778"/>
                </a:solidFill>
                <a:latin typeface="Segoe UI"/>
              </a:rPr>
              <a:t>→  Analyst writes &amp; checks SQL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>
                <a:solidFill>
                  <a:srgbClr val="5A6778"/>
                </a:solidFill>
                <a:latin typeface="Segoe UI"/>
              </a:rPr>
              <a:t>→  Result pasted into a slide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>
                <a:solidFill>
                  <a:srgbClr val="5A6778"/>
                </a:solidFill>
                <a:latin typeface="Segoe UI"/>
              </a:rPr>
              <a:t>→  Follow-up question → repeat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DataForge  ·  CoCo Quest · Theme 2: Conversational BI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7B6FF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DataForge: from question to trusted answer in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A6778"/>
                </a:solidFill>
                <a:latin typeface="Segoe UI"/>
              </a:rPr>
              <a:t>A chat interface over your Snowflake data — no SQL, no exports, no waiting.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520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3520440" cy="50800"/>
          </a:xfrm>
          <a:prstGeom prst="rect">
            <a:avLst/>
          </a:prstGeom>
          <a:solidFill>
            <a:srgbClr val="29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9424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Ask in plain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06624"/>
            <a:ext cx="31546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6778"/>
                </a:solidFill>
                <a:latin typeface="Segoe UI"/>
              </a:rPr>
              <a:t>"What were our top 5 products by revenue last month?" — just type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520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3520440" cy="508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249424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Cortex generates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06624"/>
            <a:ext cx="31546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6778"/>
                </a:solidFill>
                <a:latin typeface="Segoe UI"/>
              </a:rPr>
              <a:t>Snowflake Cortex writes SQL that is validated before it ever 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03120"/>
            <a:ext cx="3520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03120"/>
            <a:ext cx="3520440" cy="50800"/>
          </a:xfrm>
          <a:prstGeom prst="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249424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Answers you can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06624"/>
            <a:ext cx="31546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6778"/>
                </a:solidFill>
                <a:latin typeface="Segoe UI"/>
              </a:rPr>
              <a:t>Table + chart + summary, each with a confidence score and the exact SQL.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92040"/>
            <a:ext cx="10881360" cy="10515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100% Snowflake-native: Streamlit-in-Snowflake + Cortex. Your data never leaves the governance boundary.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DataForge  ·  CoCo Quest · Theme 2: Conversational BI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7B6FF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"Top 5 selling products last month?"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48640" cy="548640"/>
          </a:xfrm>
          <a:prstGeom prst="roundRect">
            <a:avLst/>
          </a:prstGeom>
          <a:solidFill>
            <a:srgbClr val="29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4243A"/>
                </a:solidFill>
                <a:latin typeface="Segoe UI"/>
              </a:rPr>
              <a:t>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90472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778"/>
                </a:solidFill>
                <a:latin typeface="Segoe UI"/>
              </a:rPr>
              <a:t>Type the question in the chat box — exactly as the brief phrases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48640" cy="548640"/>
          </a:xfrm>
          <a:prstGeom prst="roundRect">
            <a:avLst/>
          </a:prstGeom>
          <a:solidFill>
            <a:srgbClr val="29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9152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13432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4243A"/>
                </a:solidFill>
                <a:latin typeface="Segoe UI"/>
              </a:rPr>
              <a:t>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13432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778"/>
                </a:solidFill>
                <a:latin typeface="Segoe UI"/>
              </a:rPr>
              <a:t>DataForge picks a curated semantic view or generates fresh 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548640" cy="548640"/>
          </a:xfrm>
          <a:prstGeom prst="roundRect">
            <a:avLst/>
          </a:prstGeom>
          <a:solidFill>
            <a:srgbClr val="29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82112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36392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4243A"/>
                </a:solidFill>
                <a:latin typeface="Segoe UI"/>
              </a:rPr>
              <a:t>Show the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136392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778"/>
                </a:solidFill>
                <a:latin typeface="Segoe UI"/>
              </a:rPr>
              <a:t>The exact query is displayed — full transparency, no black box.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40"/>
            <a:ext cx="548640" cy="548640"/>
          </a:xfrm>
          <a:prstGeom prst="roundRect">
            <a:avLst/>
          </a:prstGeom>
          <a:solidFill>
            <a:srgbClr val="29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05072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9352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4243A"/>
                </a:solidFill>
                <a:latin typeface="Segoe UI"/>
              </a:rPr>
              <a:t>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959352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778"/>
                </a:solidFill>
                <a:latin typeface="Segoe UI"/>
              </a:rPr>
              <a:t>Ranked table + bar chart + a one-line plain-English summary.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00600"/>
            <a:ext cx="548640" cy="548640"/>
          </a:xfrm>
          <a:prstGeom prst="roundRect">
            <a:avLst/>
          </a:prstGeom>
          <a:solidFill>
            <a:srgbClr val="29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28032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82312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4243A"/>
                </a:solidFill>
                <a:latin typeface="Segoe UI"/>
              </a:rPr>
              <a:t>Follow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782312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778"/>
                </a:solidFill>
                <a:latin typeface="Segoe UI"/>
              </a:rPr>
              <a:t>"Now split that by channel" — it remembers the context.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15000"/>
            <a:ext cx="10881360" cy="56692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769864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43A"/>
                </a:solidFill>
                <a:latin typeface="Segoe UI"/>
              </a:rPr>
              <a:t>The judge's example question runs end-to-end — answer, chart and SQL, in one screen.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DataForge  ·  CoCo Quest · Theme 2: Conversational BI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7B6F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How it works — 100% inside Snowflake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2103120" cy="63500"/>
          </a:xfrm>
          <a:prstGeom prst="rect">
            <a:avLst/>
          </a:prstGeom>
          <a:solidFill>
            <a:srgbClr val="5A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4243A"/>
                </a:solidFill>
                <a:latin typeface="Segoe UI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778"/>
                </a:solidFill>
                <a:latin typeface="Segoe UI"/>
              </a:rPr>
              <a:t>asks in natural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651760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96BE4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9776" y="214884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9776" y="2148840"/>
            <a:ext cx="2103120" cy="63500"/>
          </a:xfrm>
          <a:prstGeom prst="rect">
            <a:avLst/>
          </a:prstGeom>
          <a:solidFill>
            <a:srgbClr val="29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1216" y="237744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4243A"/>
                </a:solidFill>
                <a:latin typeface="Segoe UI"/>
              </a:rPr>
              <a:t>Streamlit-in-Snowflake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30632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778"/>
                </a:solidFill>
                <a:latin typeface="Segoe UI"/>
              </a:rPr>
              <a:t>chat UI,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2651760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96BE4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6632" y="214884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6632" y="2148840"/>
            <a:ext cx="2103120" cy="635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072" y="237744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4243A"/>
                </a:solidFill>
                <a:latin typeface="Segoe UI"/>
              </a:rPr>
              <a:t>Cortex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72" y="30632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778"/>
                </a:solidFill>
                <a:latin typeface="Segoe UI"/>
              </a:rPr>
              <a:t>route + generate 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651760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96BE4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214884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33488" y="2148840"/>
            <a:ext cx="2103120" cy="63500"/>
          </a:xfrm>
          <a:prstGeom prst="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8" y="237744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4243A"/>
                </a:solidFill>
                <a:latin typeface="Segoe UI"/>
              </a:rPr>
              <a:t>Validate +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8" y="30632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778"/>
                </a:solidFill>
                <a:latin typeface="Segoe UI"/>
              </a:rPr>
              <a:t>guardrails, 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651760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96BE4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0344" y="214884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10344" y="2148840"/>
            <a:ext cx="2103120" cy="635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01784" y="237744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4243A"/>
                </a:solidFill>
                <a:latin typeface="Segoe UI"/>
              </a:rPr>
              <a:t>Snowflake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1784" y="30632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778"/>
                </a:solidFill>
                <a:latin typeface="Segoe UI"/>
              </a:rPr>
              <a:t>views, tables, warehouse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11480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4243A"/>
                </a:solidFill>
                <a:latin typeface="Segoe UI"/>
              </a:rPr>
              <a:t>No pipelines. No third-party APIs. No data movement.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4243A"/>
                </a:solidFill>
                <a:latin typeface="Segoe UI"/>
              </a:rPr>
              <a:t>Compute runs on your warehouse, the LLM is Snowflake Cortex, and the app is Streamlit-in-Snowflake — so your existing roles, grants and masking policies apply automatically.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DataForge  ·  CoCo Quest · Theme 2: Conversational BI Assistant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7B6FF"/>
                </a:solidFill>
                <a:latin typeface="Segoe UI"/>
              </a:rPr>
              <a:t>OUR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What sets DataForge apart from a basic text-to-SQL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486400" cy="50800"/>
          </a:xfrm>
          <a:prstGeom prst="rect">
            <a:avLst/>
          </a:prstGeom>
          <a:solidFill>
            <a:srgbClr val="F2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5506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Confidence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12264"/>
            <a:ext cx="5120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778"/>
                </a:solidFill>
                <a:latin typeface="Segoe UI"/>
              </a:rPr>
              <a:t>Every answer is scored on relevance, SQL quality and schema compliance — users know when to trust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486400" cy="50800"/>
          </a:xfrm>
          <a:prstGeom prst="rect">
            <a:avLst/>
          </a:prstGeom>
          <a:solidFill>
            <a:srgbClr val="29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5506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Schema-verified in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12264"/>
            <a:ext cx="5120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778"/>
                </a:solidFill>
                <a:latin typeface="Segoe UI"/>
              </a:rPr>
              <a:t>Identifiers are checked against the live schema, not guessed — hallucinated columns can't slip through.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44952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44952"/>
            <a:ext cx="5486400" cy="508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9125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Semantic-view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48456"/>
            <a:ext cx="5120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778"/>
                </a:solidFill>
                <a:latin typeface="Segoe UI"/>
              </a:rPr>
              <a:t>Common questions route to reviewed views for consistent, board-ready numbers.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044952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044952"/>
            <a:ext cx="5486400" cy="50800"/>
          </a:xfrm>
          <a:prstGeom prst="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19125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Correct by construction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648456"/>
            <a:ext cx="5120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778"/>
                </a:solidFill>
                <a:latin typeface="Segoe UI"/>
              </a:rPr>
              <a:t>No join fan-out, referential integrity guaranteed — the numbers are provably right.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81144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81144"/>
            <a:ext cx="5486400" cy="50800"/>
          </a:xfrm>
          <a:prstGeom prst="rect">
            <a:avLst/>
          </a:prstGeom>
          <a:solidFill>
            <a:srgbClr val="29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274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Charts + summaries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84648"/>
            <a:ext cx="5120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778"/>
                </a:solidFill>
                <a:latin typeface="Segoe UI"/>
              </a:rPr>
              <a:t>Auto-selected visualisations and a plain-English takeaway, not just a raw table.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81144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581144"/>
            <a:ext cx="5486400" cy="50800"/>
          </a:xfrm>
          <a:prstGeom prst="rect">
            <a:avLst/>
          </a:prstGeom>
          <a:solidFill>
            <a:srgbClr val="F2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7274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Production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184648"/>
            <a:ext cx="5120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778"/>
                </a:solidFill>
                <a:latin typeface="Segoe UI"/>
              </a:rPr>
              <a:t>Modular code, Git CI/CD, prod approval gates — built to ship, not just to demo.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DataForge  ·  CoCo Quest · Theme 2: Conversational BI 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7B6FF"/>
                </a:solidFill>
                <a:latin typeface="Segoe UI"/>
              </a:rPr>
              <a:t>TRUST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Answers you can defend to the business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349240" cy="50800"/>
          </a:xfrm>
          <a:prstGeom prst="rect">
            <a:avLst/>
          </a:prstGeom>
          <a:solidFill>
            <a:srgbClr val="29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5506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Read-only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12264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778"/>
                </a:solidFill>
                <a:latin typeface="Segoe UI"/>
              </a:rPr>
              <a:t>Generated SQL is validated; only SELECT statements can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349240" cy="508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5506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Full 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12264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778"/>
                </a:solidFill>
                <a:latin typeface="Segoe UI"/>
              </a:rPr>
              <a:t>The exact SQL is always shown — nothing is hidden.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5349240" cy="50800"/>
          </a:xfrm>
          <a:prstGeom prst="rect">
            <a:avLst/>
          </a:prstGeom>
          <a:solidFill>
            <a:srgbClr val="F2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1810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Confidence verdicts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75304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778"/>
                </a:solidFill>
                <a:latin typeface="Segoe UI"/>
              </a:rPr>
              <a:t>GOOD / NEEDS REVIEW / RISKY flags on every result.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71800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971800"/>
            <a:ext cx="5349240" cy="50800"/>
          </a:xfrm>
          <a:prstGeom prst="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11810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Governance inherited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575304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778"/>
                </a:solidFill>
                <a:latin typeface="Segoe UI"/>
              </a:rPr>
              <a:t>Snowflake roles, grants and masking apply automatically.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34840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434840"/>
            <a:ext cx="5349240" cy="50800"/>
          </a:xfrm>
          <a:prstGeom prst="rect">
            <a:avLst/>
          </a:prstGeom>
          <a:solidFill>
            <a:srgbClr val="29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8114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Row limits &amp; safe prompts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38344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778"/>
                </a:solidFill>
                <a:latin typeface="Segoe UI"/>
              </a:rPr>
              <a:t>Results capped; user input sanitised before it reaches Cortex.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34840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434840"/>
            <a:ext cx="5349240" cy="50800"/>
          </a:xfrm>
          <a:prstGeom prst="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58114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Curated 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38344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778"/>
                </a:solidFill>
                <a:latin typeface="Segoe UI"/>
              </a:rPr>
              <a:t>Key metrics come from reviewed, consistent semantic views.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DataForge  ·  CoCo Quest · Theme 2: Conversational BI 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7B6FF"/>
                </a:solidFill>
                <a:latin typeface="Segoe UI"/>
              </a:rPr>
              <a:t>OUR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Correct numbers, by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5A6778"/>
                </a:solidFill>
                <a:latin typeface="Segoe UI"/>
              </a:rPr>
              <a:t>A conversational tool is only as good as the numbers it returns. Most demos skip this. We engineered for it: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5349240" cy="50800"/>
          </a:xfrm>
          <a:prstGeom prst="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0370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No join fan-out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60904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6778"/>
                </a:solidFill>
                <a:latin typeface="Segoe UI"/>
              </a:rPr>
              <a:t>Header and detail grains are pre-aggregated before joining, so revenue and averages are never inflated by one-to-many joins.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57400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57400"/>
            <a:ext cx="5349240" cy="50800"/>
          </a:xfrm>
          <a:prstGeom prst="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0370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Referential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60904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6778"/>
                </a:solidFill>
                <a:latin typeface="Segoe UI"/>
              </a:rPr>
              <a:t>Deterministic keys guarantee orders, items, customers and products always join — no silently empty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19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931919"/>
            <a:ext cx="5349240" cy="50800"/>
          </a:xfrm>
          <a:prstGeom prst="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78223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Consistent financials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35423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6778"/>
                </a:solidFill>
                <a:latin typeface="Segoe UI"/>
              </a:rPr>
              <a:t>Totals, tax and payments are derived, not random — zero negative balances or impossible states.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931919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31919"/>
            <a:ext cx="5349240" cy="50800"/>
          </a:xfrm>
          <a:prstGeom prst="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078223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243A"/>
                </a:solidFill>
                <a:latin typeface="Segoe UI"/>
              </a:rPr>
              <a:t>Verified on live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35423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6778"/>
                </a:solidFill>
                <a:latin typeface="Segoe UI"/>
              </a:rPr>
              <a:t>All revenue views cross-check to the same total; product revenue matches raw line items to the cent.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DataForge  ·  CoCo Quest · Theme 2: Conversational BI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7B6FF"/>
                </a:solidFill>
                <a:latin typeface="Segoe UI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One assistant, three business domains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520440" cy="640080"/>
          </a:xfrm>
          <a:prstGeom prst="rect">
            <a:avLst/>
          </a:prstGeom>
          <a:solidFill>
            <a:srgbClr val="29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3520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7744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>
                <a:solidFill>
                  <a:srgbClr val="14243A"/>
                </a:solidFill>
                <a:latin typeface="Segoe UI"/>
              </a:rPr>
              <a:t>•  Revenue trends by month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>
                <a:solidFill>
                  <a:srgbClr val="14243A"/>
                </a:solidFill>
                <a:latin typeface="Segoe UI"/>
              </a:rPr>
              <a:t>•  Top / bottom products &amp; margin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>
                <a:solidFill>
                  <a:srgbClr val="14243A"/>
                </a:solidFill>
                <a:latin typeface="Segoe UI"/>
              </a:rPr>
              <a:t>•  Customer LTV &amp; segments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>
                <a:solidFill>
                  <a:srgbClr val="14243A"/>
                </a:solidFill>
                <a:latin typeface="Segoe UI"/>
              </a:rPr>
              <a:t>•  Channel performance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>
                <a:solidFill>
                  <a:srgbClr val="14243A"/>
                </a:solidFill>
                <a:latin typeface="Segoe UI"/>
              </a:rPr>
              <a:t>•  Returns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520440" cy="64008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627632"/>
            <a:ext cx="3520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7744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>
                <a:solidFill>
                  <a:srgbClr val="14243A"/>
                </a:solidFill>
                <a:latin typeface="Segoe UI"/>
              </a:rPr>
              <a:t>•  Headcount by department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>
                <a:solidFill>
                  <a:srgbClr val="14243A"/>
                </a:solidFill>
                <a:latin typeface="Segoe UI"/>
              </a:rPr>
              <a:t>•  Salary &amp; payroll trends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>
                <a:solidFill>
                  <a:srgbClr val="14243A"/>
                </a:solidFill>
                <a:latin typeface="Segoe UI"/>
              </a:rPr>
              <a:t>•  Bonuses &amp; overtime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>
                <a:solidFill>
                  <a:srgbClr val="14243A"/>
                </a:solidFill>
                <a:latin typeface="Segoe UI"/>
              </a:rPr>
              <a:t>•  Performance summaries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204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3520440" cy="640080"/>
          </a:xfrm>
          <a:prstGeom prst="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627632"/>
            <a:ext cx="3520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37744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>
                <a:solidFill>
                  <a:srgbClr val="14243A"/>
                </a:solidFill>
                <a:latin typeface="Segoe UI"/>
              </a:rPr>
              <a:t>•  Budget vs actual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>
                <a:solidFill>
                  <a:srgbClr val="14243A"/>
                </a:solidFill>
                <a:latin typeface="Segoe UI"/>
              </a:rPr>
              <a:t>•  Expense by category &amp; vendor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>
                <a:solidFill>
                  <a:srgbClr val="14243A"/>
                </a:solidFill>
                <a:latin typeface="Segoe UI"/>
              </a:rPr>
              <a:t>•  Invoice aging &amp; balances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>
                <a:solidFill>
                  <a:srgbClr val="14243A"/>
                </a:solidFill>
                <a:latin typeface="Segoe UI"/>
              </a:rPr>
              <a:t>•  Cash outstanding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5A6778"/>
                </a:solidFill>
                <a:latin typeface="Segoe UI"/>
              </a:rPr>
              <a:t>13 curated semantic views across Sales, HR &amp; Finance — plus open-ended SQL for anything else.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DataForge  ·  CoCo Quest · Theme 2: Conversational BI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7B6FF"/>
                </a:solidFill>
                <a:latin typeface="Segoe UI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Democratizing analytics — the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49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349240" cy="50800"/>
          </a:xfrm>
          <a:prstGeom prst="rect">
            <a:avLst/>
          </a:prstGeom>
          <a:solidFill>
            <a:srgbClr val="F2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4650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4243A"/>
                </a:solidFill>
                <a:latin typeface="Segoe UI"/>
              </a:rPr>
              <a:t>Days →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03704"/>
            <a:ext cx="4983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6778"/>
                </a:solidFill>
                <a:latin typeface="Segoe UI"/>
              </a:rPr>
              <a:t>Routine questions are answered instantly — the analyst queue disappears.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349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00200"/>
            <a:ext cx="5349240" cy="50800"/>
          </a:xfrm>
          <a:prstGeom prst="rect">
            <a:avLst/>
          </a:prstGeom>
          <a:solidFill>
            <a:srgbClr val="F2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4650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4243A"/>
                </a:solidFill>
                <a:latin typeface="Segoe UI"/>
              </a:rPr>
              <a:t>Everyone self-serves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03704"/>
            <a:ext cx="4983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6778"/>
                </a:solidFill>
                <a:latin typeface="Segoe UI"/>
              </a:rPr>
              <a:t>Non-technical users explore data directly, safely inside governance.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0440"/>
            <a:ext cx="5349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20440"/>
            <a:ext cx="5349240" cy="50800"/>
          </a:xfrm>
          <a:prstGeom prst="rect">
            <a:avLst/>
          </a:prstGeom>
          <a:solidFill>
            <a:srgbClr val="F2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6674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4243A"/>
                </a:solidFill>
                <a:latin typeface="Segoe UI"/>
              </a:rPr>
              <a:t>One source of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23944"/>
            <a:ext cx="4983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6778"/>
                </a:solidFill>
                <a:latin typeface="Segoe UI"/>
              </a:rPr>
              <a:t>Everyone queries the same governed data — no drifting spreadsheets.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20440"/>
            <a:ext cx="5349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520440"/>
            <a:ext cx="5349240" cy="50800"/>
          </a:xfrm>
          <a:prstGeom prst="rect">
            <a:avLst/>
          </a:prstGeom>
          <a:solidFill>
            <a:srgbClr val="F2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66674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4243A"/>
                </a:solidFill>
                <a:latin typeface="Segoe UI"/>
              </a:rPr>
              <a:t>Analysts freed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123944"/>
            <a:ext cx="4983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6778"/>
                </a:solidFill>
                <a:latin typeface="Segoe UI"/>
              </a:rPr>
              <a:t>Experts focus on deep analysis, not repetitive ad-hoc requests.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DataForge  ·  CoCo Quest · Theme 2: Conversational BI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37B6FF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Built to grow beyond the hackathon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3520440" cy="640080"/>
          </a:xfrm>
          <a:prstGeom prst="rect">
            <a:avLst/>
          </a:prstGeom>
          <a:solidFill>
            <a:srgbClr val="29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3520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4243A"/>
                </a:solidFill>
                <a:latin typeface="Segoe UI"/>
              </a:rPr>
              <a:t>•  NL Q&amp;A on 3 domains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4243A"/>
                </a:solidFill>
                <a:latin typeface="Segoe UI"/>
              </a:rPr>
              <a:t>•  Semantic-view routing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4243A"/>
                </a:solidFill>
                <a:latin typeface="Segoe UI"/>
              </a:rPr>
              <a:t>•  Confidence scoring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4243A"/>
                </a:solidFill>
                <a:latin typeface="Segoe UI"/>
              </a:rPr>
              <a:t>•  Auto charts + summaries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3520440" cy="64008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673352"/>
            <a:ext cx="3520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42316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4243A"/>
                </a:solidFill>
                <a:latin typeface="Segoe UI"/>
              </a:rPr>
              <a:t>•  More domains &amp; views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4243A"/>
                </a:solidFill>
                <a:latin typeface="Segoe UI"/>
              </a:rPr>
              <a:t>•  Saved / shared questions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4243A"/>
                </a:solidFill>
                <a:latin typeface="Segoe UI"/>
              </a:rPr>
              <a:t>•  Role-aware answers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4243A"/>
                </a:solidFill>
                <a:latin typeface="Segoe UI"/>
              </a:rPr>
              <a:t>•  Scheduled digests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204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3520440" cy="640080"/>
          </a:xfrm>
          <a:prstGeom prst="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673352"/>
            <a:ext cx="3520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42316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4243A"/>
                </a:solidFill>
                <a:latin typeface="Segoe UI"/>
              </a:rPr>
              <a:t>•  Proactive alerts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4243A"/>
                </a:solidFill>
                <a:latin typeface="Segoe UI"/>
              </a:rPr>
              <a:t>•  Forecasting via Cortex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4243A"/>
                </a:solidFill>
                <a:latin typeface="Segoe UI"/>
              </a:rPr>
              <a:t>•  Embedded in workflows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14243A"/>
                </a:solidFill>
                <a:latin typeface="Segoe UI"/>
              </a:rPr>
              <a:t>•  Voice &amp; 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DataForge  ·  CoCo Quest · Theme 2: Conversational BI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77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8100"/>
          </a:xfrm>
          <a:prstGeom prst="rect">
            <a:avLst/>
          </a:prstGeom>
          <a:solidFill>
            <a:srgbClr val="37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B02E"/>
                </a:solidFill>
                <a:latin typeface="Segoe UI"/>
              </a:rPr>
              <a:t>CoCo Quest · Theme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20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DataForge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37B6FF"/>
                </a:solidFill>
                <a:latin typeface="Segoe UI"/>
              </a:rPr>
              <a:t>Natural language in. Governed, correct, explainable answers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>
                <a:solidFill>
                  <a:srgbClr val="C7D2E0"/>
                </a:solidFill>
                <a:latin typeface="Segoe UI"/>
              </a:rPr>
              <a:t>✓  Nails every Theme 2 requirement — and adds trust, correctness and transparency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>
                <a:solidFill>
                  <a:srgbClr val="C7D2E0"/>
                </a:solidFill>
                <a:latin typeface="Segoe UI"/>
              </a:rPr>
              <a:t>✓  100% Snowflake-native: Cortex + Streamlit-in-Snowflake, zero data movement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>
                <a:solidFill>
                  <a:srgbClr val="C7D2E0"/>
                </a:solidFill>
                <a:latin typeface="Segoe UI"/>
              </a:rPr>
              <a:t>✓  Provably correct numbers — verified live across Sales, HR and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Thank you — let's ask your data anything.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