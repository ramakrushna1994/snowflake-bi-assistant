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81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makrushna1994/Snowflake-BI-Assistan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E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400800" y="731520"/>
            <a:ext cx="2286000" cy="2286000"/>
          </a:xfrm>
          <a:prstGeom prst="ellipse">
            <a:avLst/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315200" y="2286000"/>
            <a:ext cx="1645920" cy="1645920"/>
          </a:xfrm>
          <a:prstGeom prst="ellipse">
            <a:avLst/>
          </a:prstGeom>
          <a:solidFill>
            <a:srgbClr val="12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217920" y="3200400"/>
            <a:ext cx="1097280" cy="1097280"/>
          </a:xfrm>
          <a:prstGeom prst="ellipse">
            <a:avLst/>
          </a:prstGeom>
          <a:solidFill>
            <a:srgbClr val="18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583680" y="1371600"/>
            <a:ext cx="137160" cy="13716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772400" y="2743200"/>
            <a:ext cx="109728" cy="109728"/>
          </a:xfrm>
          <a:prstGeom prst="ellipse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229600" y="1097280"/>
            <a:ext cx="91440" cy="91440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20" y="914400"/>
            <a:ext cx="2011680" cy="320040"/>
          </a:xfrm>
          <a:prstGeom prst="roundRect">
            <a:avLst/>
          </a:prstGeom>
          <a:solidFill>
            <a:srgbClr val="14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932688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6CCF2"/>
                </a:solidFill>
              </a:defRPr>
            </a:pPr>
            <a:r>
              <a:t>COCOQUEST • THEME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DataForge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6CCF2"/>
                </a:solidFill>
              </a:defRPr>
            </a:pPr>
            <a:r>
              <a:t>Conversational BI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3"/>
                </a:solidFill>
              </a:defRPr>
            </a:pPr>
            <a:r>
              <a:t>powered by Snowflake Cortex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114800"/>
            <a:ext cx="9144000" cy="9144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CEDE"/>
                </a:solidFill>
              </a:defRPr>
            </a:pPr>
            <a:r>
              <a:t>Ramakrushna Dash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3"/>
                </a:solidFill>
              </a:defRPr>
            </a:pPr>
            <a:r>
              <a:t>Data to Decisions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093208"/>
            <a:ext cx="91440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05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1069848"/>
            <a:ext cx="8284464" cy="786384"/>
          </a:xfrm>
          <a:prstGeom prst="roundRect">
            <a:avLst/>
          </a:prstGeom>
          <a:solidFill>
            <a:srgbClr val="F05656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8229600" cy="7315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3A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</a:defRPr>
            </a:pPr>
            <a:r>
              <a:t>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3444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EDE"/>
                </a:solidFill>
              </a:defRPr>
            </a:pPr>
            <a:r>
              <a:t>Business users need data answers but can’t write 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984248"/>
            <a:ext cx="8284464" cy="786384"/>
          </a:xfrm>
          <a:prstGeom prst="roundRect">
            <a:avLst/>
          </a:prstGeom>
          <a:solidFill>
            <a:srgbClr val="F05656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8229600" cy="7315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3A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</a:defRPr>
            </a:pPr>
            <a:r>
              <a:t>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4884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EDE"/>
                </a:solidFill>
              </a:defRPr>
            </a:pPr>
            <a:r>
              <a:t>Analysts bottlenecked — 80% of time on ad-hoc requests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898648"/>
            <a:ext cx="8284464" cy="786384"/>
          </a:xfrm>
          <a:prstGeom prst="roundRect">
            <a:avLst/>
          </a:prstGeom>
          <a:solidFill>
            <a:srgbClr val="F05656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8229600" cy="7315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3A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035808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</a:defRPr>
            </a:pPr>
            <a:r>
              <a:t>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6324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EDE"/>
                </a:solidFill>
              </a:defRPr>
            </a:pPr>
            <a:r>
              <a:t>BI tools need training, dashboard builds, and maintenance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813048"/>
            <a:ext cx="8284464" cy="786384"/>
          </a:xfrm>
          <a:prstGeom prst="roundRect">
            <a:avLst/>
          </a:prstGeom>
          <a:solidFill>
            <a:srgbClr val="F05656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" y="3840480"/>
            <a:ext cx="8229600" cy="7315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3A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950208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</a:defRPr>
            </a:pPr>
            <a:r>
              <a:t>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97764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EDE"/>
                </a:solidFill>
              </a:defRPr>
            </a:pPr>
            <a:r>
              <a:t>Data scattered across 3 schemas with 20+ tables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DataForge —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" y="978408"/>
            <a:ext cx="5084064" cy="3712464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1005840"/>
            <a:ext cx="5029200" cy="365760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C0CEDE"/>
                </a:solidFill>
              </a:defRPr>
            </a:pPr>
            <a:r>
              <a:t>•  Natural language → instant SQL answers</a:t>
            </a:r>
          </a:p>
          <a:p>
            <a:pPr>
              <a:spcAft>
                <a:spcPts val="1400"/>
              </a:spcAft>
              <a:defRPr sz="1500">
                <a:solidFill>
                  <a:srgbClr val="C0CEDE"/>
                </a:solidFill>
              </a:defRPr>
            </a:pPr>
            <a:r>
              <a:t>•  Single LLM call: route + generate + score</a:t>
            </a:r>
          </a:p>
          <a:p>
            <a:pPr>
              <a:spcAft>
                <a:spcPts val="1400"/>
              </a:spcAft>
              <a:defRPr sz="1500">
                <a:solidFill>
                  <a:srgbClr val="C0CEDE"/>
                </a:solidFill>
              </a:defRPr>
            </a:pPr>
            <a:r>
              <a:t>•  11 semantic views for common patterns</a:t>
            </a:r>
          </a:p>
          <a:p>
            <a:pPr>
              <a:spcAft>
                <a:spcPts val="1400"/>
              </a:spcAft>
              <a:defRPr sz="1500">
                <a:solidFill>
                  <a:srgbClr val="C0CEDE"/>
                </a:solidFill>
              </a:defRPr>
            </a:pPr>
            <a:r>
              <a:t>•  Auto charts + AI summaries</a:t>
            </a:r>
          </a:p>
          <a:p>
            <a:pPr>
              <a:spcAft>
                <a:spcPts val="1400"/>
              </a:spcAft>
              <a:defRPr sz="1500">
                <a:solidFill>
                  <a:srgbClr val="C0CEDE"/>
                </a:solidFill>
              </a:defRPr>
            </a:pPr>
            <a:r>
              <a:t>•  100% inside Snowflake — zero external infra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188720"/>
            <a:ext cx="2926080" cy="9601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0" y="126187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CCF2"/>
                </a:solidFill>
              </a:defRPr>
            </a:pPr>
            <a:r>
              <a:t>&lt; 3s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3"/>
                </a:solidFill>
              </a:defRPr>
            </a:pPr>
            <a:r>
              <a:t>Avg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377440"/>
            <a:ext cx="2926080" cy="9601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0" y="245059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CCF2"/>
                </a:solidFill>
              </a:defRPr>
            </a:pPr>
            <a: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8803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3"/>
                </a:solidFill>
              </a:defRPr>
            </a:pPr>
            <a:r>
              <a:t>Semantic views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566160"/>
            <a:ext cx="2926080" cy="9601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0" y="363931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CCF2"/>
                </a:solidFill>
              </a:defRPr>
            </a:pPr>
            <a:r>
              <a:t>3-axis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0690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3"/>
                </a:solidFill>
              </a:defRPr>
            </a:pPr>
            <a:r>
              <a:t>Confidence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103120" cy="8229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User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097280"/>
            <a:ext cx="2103120" cy="8229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Streamlit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097280"/>
            <a:ext cx="2103120" cy="8229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0" y="118872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Cortex LLM</a:t>
            </a:r>
            <a:br/>
            <a:r>
              <a:t>(mistral-large2)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286000"/>
            <a:ext cx="2103120" cy="8229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23774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Route Decision</a:t>
            </a:r>
            <a:br/>
            <a:r>
              <a:t>Semantic View / 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2286000"/>
            <a:ext cx="2103120" cy="8229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0" y="23774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Validate + Score</a:t>
            </a:r>
            <a:br/>
            <a:r>
              <a:t>(3-axis confidence)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74720"/>
            <a:ext cx="2103120" cy="8229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3566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Results + Chart</a:t>
            </a:r>
            <a:br/>
            <a:r>
              <a:t>+ AI Summary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68880" y="1440180"/>
            <a:ext cx="640080" cy="182880"/>
          </a:xfrm>
          <a:prstGeom prst="rightArrow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5212080" y="1417320"/>
            <a:ext cx="731520" cy="182880"/>
          </a:xfrm>
          <a:prstGeom prst="rightArrow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6903720" y="1965960"/>
            <a:ext cx="182880" cy="320040"/>
          </a:xfrm>
          <a:prstGeom prst="downArrow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Down Arrow 18"/>
          <p:cNvSpPr/>
          <p:nvPr/>
        </p:nvSpPr>
        <p:spPr>
          <a:xfrm>
            <a:off x="4069080" y="1965960"/>
            <a:ext cx="182880" cy="320040"/>
          </a:xfrm>
          <a:prstGeom prst="downArrow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own Arrow 19"/>
          <p:cNvSpPr/>
          <p:nvPr/>
        </p:nvSpPr>
        <p:spPr>
          <a:xfrm>
            <a:off x="4069080" y="1965960"/>
            <a:ext cx="182880" cy="320040"/>
          </a:xfrm>
          <a:prstGeom prst="downArrow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ight Arrow 20"/>
          <p:cNvSpPr/>
          <p:nvPr/>
        </p:nvSpPr>
        <p:spPr>
          <a:xfrm>
            <a:off x="5212080" y="2606040"/>
            <a:ext cx="731520" cy="182880"/>
          </a:xfrm>
          <a:prstGeom prst="rightArrow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Down Arrow 21"/>
          <p:cNvSpPr/>
          <p:nvPr/>
        </p:nvSpPr>
        <p:spPr>
          <a:xfrm>
            <a:off x="6903720" y="3154680"/>
            <a:ext cx="182880" cy="320040"/>
          </a:xfrm>
          <a:prstGeom prst="downArrow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44805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B93"/>
                </a:solidFill>
              </a:defRPr>
            </a:pPr>
            <a:r>
              <a:t>Semantic View path = instant (no SQL generation)  |  SQL path = generate → validate → score → execute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Key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" y="978408"/>
            <a:ext cx="2798064" cy="1792224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1887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Single-Call</a:t>
            </a:r>
            <a:br/>
            <a:r>
              <a:t>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One LLM call decides</a:t>
            </a:r>
            <a:br/>
            <a:r>
              <a:t>route + generates 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18688" y="978408"/>
            <a:ext cx="2798064" cy="1792224"/>
          </a:xfrm>
          <a:prstGeom prst="roundRect">
            <a:avLst/>
          </a:prstGeom>
          <a:solidFill>
            <a:srgbClr val="B47AF5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246120" y="100584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429000" y="1188720"/>
            <a:ext cx="457200" cy="457200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11887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Live Schema</a:t>
            </a:r>
            <a:br/>
            <a:r>
              <a:t>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28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INFORMATION_SCHEMA</a:t>
            </a:r>
            <a:br/>
            <a:r>
              <a:t>at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978408"/>
            <a:ext cx="2798064" cy="1792224"/>
          </a:xfrm>
          <a:prstGeom prst="roundRect">
            <a:avLst/>
          </a:prstGeom>
          <a:solidFill>
            <a:srgbClr val="F5A62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17920" y="100584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00800" y="118872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1887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Enum-Aware</a:t>
            </a:r>
            <a:br/>
            <a:r>
              <a:t>Prompts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Column values in</a:t>
            </a:r>
            <a:br/>
            <a:r>
              <a:t>LLM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8" y="2944368"/>
            <a:ext cx="2798064" cy="1792224"/>
          </a:xfrm>
          <a:prstGeom prst="roundRect">
            <a:avLst/>
          </a:prstGeom>
          <a:solidFill>
            <a:srgbClr val="F05656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74320" y="297180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0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F05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1546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SQL Safety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SELECT-only, DDL/DML</a:t>
            </a:r>
            <a:br/>
            <a:r>
              <a:t>blocked, LIMIT 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8688" y="2944368"/>
            <a:ext cx="2798064" cy="1792224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246120" y="297180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429000" y="315468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31546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Auto Charts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7947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Bar/line charts for</a:t>
            </a:r>
            <a:br/>
            <a:r>
              <a:t>numeric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2944368"/>
            <a:ext cx="2798064" cy="1792224"/>
          </a:xfrm>
          <a:prstGeom prst="roundRect">
            <a:avLst/>
          </a:prstGeom>
          <a:solidFill>
            <a:srgbClr val="E95C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17920" y="297180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E95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400800" y="3154680"/>
            <a:ext cx="457200" cy="457200"/>
          </a:xfrm>
          <a:prstGeom prst="ellipse">
            <a:avLst/>
          </a:prstGeom>
          <a:solidFill>
            <a:srgbClr val="E95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1546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Learn from</a:t>
            </a:r>
            <a:br/>
            <a:r>
              <a:t>Mistakes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7947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Corrections saved for</a:t>
            </a:r>
            <a:br/>
            <a:r>
              <a:t>future prompts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3"/>
                </a:solidFill>
              </a:defRPr>
            </a:pPr>
            <a:r>
              <a:t>3 schemas • 20+ tables • 50K+ rows • seeded with GENERATOR()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" y="1069848"/>
            <a:ext cx="2798064" cy="3621024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2743200" cy="35661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4320" y="1097280"/>
            <a:ext cx="274320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2468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Products (96)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Customers (500)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Orders (5K)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Order Items (15K)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Returns (1.5K)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Stores (20)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18688" y="1069848"/>
            <a:ext cx="2798064" cy="3621024"/>
          </a:xfrm>
          <a:prstGeom prst="roundRect">
            <a:avLst/>
          </a:prstGeom>
          <a:solidFill>
            <a:srgbClr val="B47AF5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246120" y="1097280"/>
            <a:ext cx="2743200" cy="35661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246120" y="1097280"/>
            <a:ext cx="2743200" cy="457200"/>
          </a:xfrm>
          <a:prstGeom prst="roundRect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468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Employees (200)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Departments (10)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Payroll (4.8K)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Performance (1.6K)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Attendance (20.8K)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069848"/>
            <a:ext cx="2798064" cy="3621024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217920" y="1097280"/>
            <a:ext cx="2743200" cy="35661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17920" y="1097280"/>
            <a:ext cx="2743200" cy="457200"/>
          </a:xfrm>
          <a:prstGeom prst="round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691640"/>
            <a:ext cx="2468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GL Accounts (50)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Cost Centers (15)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Budget Lines (3K)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Invoices (2K)</a:t>
            </a:r>
          </a:p>
          <a:p>
            <a:pPr>
              <a:spcAft>
                <a:spcPts val="500"/>
              </a:spcAft>
              <a:defRPr sz="1000">
                <a:solidFill>
                  <a:srgbClr val="C0CEDE"/>
                </a:solidFill>
              </a:defRPr>
            </a:pPr>
            <a:r>
              <a:t>•  Expenses (3K)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B93"/>
                </a:solidFill>
              </a:defRPr>
            </a:pPr>
            <a:r>
              <a:t>Design: No join fan-out • Deterministic IDs • Consistent computed amounts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11 Semantic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3"/>
                </a:solidFill>
              </a:defRPr>
            </a:pPr>
            <a:r>
              <a:t>Pre-aggregated — bypass SQL generation for instant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8412480" cy="182880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" y="1207008"/>
            <a:ext cx="365760" cy="36576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17043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9B5E8"/>
                </a:solidFill>
              </a:defRPr>
            </a:pPr>
            <a: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087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V_MONTHLY_REVENUE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5087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Revenue trend, order volume, AOV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6479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V_PRODUCT_PERFORMANCE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7647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Top/bottom products,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02082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V_CUSTOMER_SEGMENTS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020824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Revenue by region/segment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276856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V_RETURN_ANALYSIS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276856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Return rates, refund amounts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3288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V_CHANNEL_PERFORMANCE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532888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Revenue by sales channel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017520"/>
            <a:ext cx="8412480" cy="1316736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2920" y="3127248"/>
            <a:ext cx="365760" cy="365760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090672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7AF5"/>
                </a:solidFill>
              </a:defRPr>
            </a:pPr>
            <a:r>
              <a:t>HR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429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V_DEPT_SUMMARY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429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Headcount, salary, 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68503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V_PAYROLL_TRENDS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68503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Monthly payroll, overtime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9410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V_PERFORMANCE_SUMMARY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941064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Ratings by dept/quarter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425696"/>
            <a:ext cx="8412480" cy="1316736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02920" y="4535424"/>
            <a:ext cx="365760" cy="36576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49884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EC9B0"/>
                </a:solidFill>
              </a:defRPr>
            </a:pPr>
            <a:r>
              <a:t>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837176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V_BUDGET_VS_ACTUAL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837176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Budget variance by dept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09320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V_EXPENSE_SUMMARY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093208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Expenses by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349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t>V_INVOICE_AGING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5349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Aging buckets, days to pay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05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Safety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3"/>
                </a:solidFill>
              </a:defRPr>
            </a:pPr>
            <a:r>
              <a:t>Multiple layers of protection between user input and query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" y="1161288"/>
            <a:ext cx="4352544" cy="1060704"/>
          </a:xfrm>
          <a:prstGeom prst="roundRect">
            <a:avLst/>
          </a:prstGeom>
          <a:solidFill>
            <a:srgbClr val="F05656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4297680" cy="10058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0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80" y="1371600"/>
            <a:ext cx="502920" cy="502920"/>
          </a:xfrm>
          <a:prstGeom prst="ellipse">
            <a:avLst/>
          </a:prstGeom>
          <a:solidFill>
            <a:srgbClr val="F05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25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SQL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Regex blocks DDL/DML keywords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18888" y="1161288"/>
            <a:ext cx="4352544" cy="1060704"/>
          </a:xfrm>
          <a:prstGeom prst="roundRect">
            <a:avLst/>
          </a:prstGeom>
          <a:solidFill>
            <a:srgbClr val="F5A62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0" y="1188720"/>
            <a:ext cx="4297680" cy="10058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983480" y="1371600"/>
            <a:ext cx="502920" cy="50292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1325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Row Limiting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691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LIMIT 500 auto-appended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" y="2350008"/>
            <a:ext cx="4352544" cy="1060704"/>
          </a:xfrm>
          <a:prstGeom prst="roundRect">
            <a:avLst/>
          </a:prstGeom>
          <a:solidFill>
            <a:srgbClr val="B47AF5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4320" y="2377440"/>
            <a:ext cx="4297680" cy="10058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11480" y="2560320"/>
            <a:ext cx="502920" cy="502920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5146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Injection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8803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Delimiters + data-only treatment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8888" y="2350008"/>
            <a:ext cx="4352544" cy="1060704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846320" y="2377440"/>
            <a:ext cx="4297680" cy="10058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983480" y="2560320"/>
            <a:ext cx="502920" cy="50292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5146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Schema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8803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Columns verified against live schema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6888" y="3538728"/>
            <a:ext cx="4352544" cy="1060704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74320" y="3566160"/>
            <a:ext cx="4297680" cy="10058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11480" y="3749040"/>
            <a:ext cx="502920" cy="50292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7033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Value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069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Enum values vs actual DB values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18888" y="3538728"/>
            <a:ext cx="4352544" cy="1060704"/>
          </a:xfrm>
          <a:prstGeom prst="roundRect">
            <a:avLst/>
          </a:prstGeom>
          <a:solidFill>
            <a:srgbClr val="56CCF2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846320" y="3566160"/>
            <a:ext cx="4297680" cy="10058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983480" y="3749040"/>
            <a:ext cx="502920" cy="502920"/>
          </a:xfrm>
          <a:prstGeom prst="ellipse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37033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Learn &amp; Improve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4069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CEDE"/>
                </a:solidFill>
              </a:defRPr>
            </a:pPr>
            <a:r>
              <a:t>Corrections saved for future use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3-Axis Confidence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3"/>
                </a:solidFill>
              </a:defRPr>
            </a:pPr>
            <a:r>
              <a:t>Every answer is scored before being shown to the user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2743200" cy="23774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280160" y="1280160"/>
            <a:ext cx="594360" cy="59436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Relevance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LLM-scored 1–10</a:t>
            </a:r>
          </a:p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Does the SQL actually</a:t>
            </a:r>
          </a:p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answer the question?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097280"/>
            <a:ext cx="2743200" cy="23774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251960" y="1280160"/>
            <a:ext cx="594360" cy="59436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9659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Schema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3774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Code-verified</a:t>
            </a:r>
          </a:p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All tables/columns exist</a:t>
            </a:r>
          </a:p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in live schema?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097280"/>
            <a:ext cx="2743200" cy="237744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223760" y="1280160"/>
            <a:ext cx="594360" cy="594360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SQL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LLM-scored 1–10</a:t>
            </a:r>
          </a:p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Correct JOINs, filters,</a:t>
            </a:r>
          </a:p>
          <a:p>
            <a:pPr algn="ctr">
              <a:spcAft>
                <a:spcPts val="300"/>
              </a:spcAft>
              <a:defRPr sz="1000">
                <a:solidFill>
                  <a:srgbClr val="C0CEDE"/>
                </a:solidFill>
              </a:defRPr>
            </a:pPr>
            <a:r>
              <a:t>aggregations?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3749039"/>
            <a:ext cx="8595360" cy="91440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97280" y="393192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00200" y="395020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</a:defRPr>
            </a:pPr>
            <a:r>
              <a:t>GOOD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251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Score ≥ 7</a:t>
            </a:r>
          </a:p>
        </p:txBody>
      </p:sp>
      <p:sp>
        <p:nvSpPr>
          <p:cNvPr id="21" name="Oval 20"/>
          <p:cNvSpPr/>
          <p:nvPr/>
        </p:nvSpPr>
        <p:spPr>
          <a:xfrm>
            <a:off x="3657600" y="3931920"/>
            <a:ext cx="411480" cy="41148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0520" y="395020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A623"/>
                </a:solidFill>
              </a:defRPr>
            </a:pPr>
            <a:r>
              <a:t>NEEDS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251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Score 5–6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931920"/>
            <a:ext cx="411480" cy="411480"/>
          </a:xfrm>
          <a:prstGeom prst="ellipse">
            <a:avLst/>
          </a:prstGeom>
          <a:solidFill>
            <a:srgbClr val="F05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395020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5656"/>
                </a:solidFill>
              </a:defRPr>
            </a:pPr>
            <a:r>
              <a:t>RISKY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251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3"/>
                </a:solidFill>
              </a:defRPr>
            </a:pPr>
            <a:r>
              <a:t>Score &lt; 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" y="978408"/>
            <a:ext cx="2798064" cy="1792224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11480" y="114300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170432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B93"/>
                </a:solidFill>
              </a:defRPr>
            </a:pPr>
            <a:r>
              <a:t>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Snowflake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18688" y="978408"/>
            <a:ext cx="2798064" cy="1792224"/>
          </a:xfrm>
          <a:prstGeom prst="roundRect">
            <a:avLst/>
          </a:prstGeom>
          <a:solidFill>
            <a:srgbClr val="B47AF5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246120" y="100584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383280" y="1143000"/>
            <a:ext cx="411480" cy="411480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170432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B93"/>
                </a:solidFill>
              </a:defRPr>
            </a:pPr>
            <a:r>
              <a:t>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6916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Cortex</a:t>
            </a:r>
            <a:br/>
            <a:r>
              <a:t>mistral-large2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978408"/>
            <a:ext cx="2798064" cy="1792224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17920" y="100584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55080" y="1143000"/>
            <a:ext cx="411480" cy="4114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1170432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B93"/>
                </a:solidFill>
              </a:defRPr>
            </a:pPr>
            <a: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6916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Streamlit in</a:t>
            </a:r>
            <a:br/>
            <a:r>
              <a:t>Snowflake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8" y="2944368"/>
            <a:ext cx="2798064" cy="1792224"/>
          </a:xfrm>
          <a:prstGeom prst="roundRect">
            <a:avLst/>
          </a:prstGeom>
          <a:solidFill>
            <a:srgbClr val="F5A62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74320" y="297180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11480" y="3108960"/>
            <a:ext cx="411480" cy="41148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36392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B93"/>
                </a:solidFill>
              </a:defRPr>
            </a:pPr>
            <a:r>
              <a:t>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657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INFORMATION_SCHEMA</a:t>
            </a:r>
            <a:br/>
            <a:r>
              <a:t>(live, no hardcoding)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8688" y="2944368"/>
            <a:ext cx="2798064" cy="1792224"/>
          </a:xfrm>
          <a:prstGeom prst="roundRect">
            <a:avLst/>
          </a:prstGeom>
          <a:solidFill>
            <a:srgbClr val="56CCF2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246120" y="297180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383280" y="3108960"/>
            <a:ext cx="411480" cy="411480"/>
          </a:xfrm>
          <a:prstGeom prst="ellipse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136392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B93"/>
                </a:solidFill>
              </a:defRPr>
            </a:pPr>
            <a: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657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GitHub Actions</a:t>
            </a:r>
            <a:br/>
            <a:r>
              <a:t>+ Snow CLI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2944368"/>
            <a:ext cx="2798064" cy="1792224"/>
          </a:xfrm>
          <a:prstGeom prst="roundRect">
            <a:avLst/>
          </a:prstGeom>
          <a:solidFill>
            <a:srgbClr val="6B7B9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17920" y="2971800"/>
            <a:ext cx="2743200" cy="173736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6B7B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355080" y="3108960"/>
            <a:ext cx="411480" cy="411480"/>
          </a:xfrm>
          <a:prstGeom prst="ellipse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136392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B93"/>
                </a:solidFill>
              </a:defRPr>
            </a:pPr>
            <a:r>
              <a:t>Seeding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657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TABLE(GENERATOR())</a:t>
            </a:r>
            <a:br/>
            <a:r>
              <a:t>deterministic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CI/CD — GitHub Actions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3"/>
                </a:solidFill>
              </a:defRPr>
            </a:pPr>
            <a:r>
              <a:t>Fully automated deployment pipeline with approval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" y="1069848"/>
            <a:ext cx="4261104" cy="2340864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4206240" cy="228600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4320" y="1097280"/>
            <a:ext cx="4206240" cy="4114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115568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🚀  deploy-streamlit.yml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Trigger: push to main (app/ changes)</a:t>
            </a:r>
          </a:p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Uploads .py to @STREAMLIT_STAGE</a:t>
            </a:r>
          </a:p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Auto-deploy — no manual step</a:t>
            </a:r>
          </a:p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Prod environment approval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1069848"/>
            <a:ext cx="4261104" cy="2340864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63440" y="1097280"/>
            <a:ext cx="4206240" cy="228600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63440" y="1097280"/>
            <a:ext cx="4206240" cy="411480"/>
          </a:xfrm>
          <a:prstGeom prst="round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0" y="1115568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📦  deploy-setup.yml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645920"/>
            <a:ext cx="3840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Trigger: push to main (setup/ changes)</a:t>
            </a:r>
          </a:p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Executes only changed SQL scripts</a:t>
            </a:r>
          </a:p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Manual reviewer approval required</a:t>
            </a:r>
          </a:p>
          <a:p>
            <a:pPr>
              <a:spcAft>
                <a:spcPts val="600"/>
              </a:spcAft>
              <a:defRPr sz="1000">
                <a:solidFill>
                  <a:srgbClr val="C0CEDE"/>
                </a:solidFill>
              </a:defRPr>
            </a:pPr>
            <a:r>
              <a:t>•  Full reseed via workflow_dispatch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657600"/>
            <a:ext cx="8595360" cy="109728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57200" y="3840480"/>
            <a:ext cx="640080" cy="640080"/>
          </a:xfrm>
          <a:prstGeom prst="ellipse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4805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0CEDE"/>
                </a:solidFill>
              </a:defRPr>
            </a:pPr>
            <a:r>
              <a:t>git push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143000" y="4069080"/>
            <a:ext cx="91440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94560" y="3840480"/>
            <a:ext cx="640080" cy="640080"/>
          </a:xfrm>
          <a:prstGeom prst="ellipse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4805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0CEDE"/>
                </a:solidFill>
              </a:defRPr>
            </a:pPr>
            <a:r>
              <a:t>GitHub</a:t>
            </a:r>
            <a:br/>
            <a:r>
              <a:t>Actions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880360" y="4069080"/>
            <a:ext cx="91440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931920" y="384048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4805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0CEDE"/>
                </a:solidFill>
              </a:defRPr>
            </a:pPr>
            <a:r>
              <a:t>Snow CLI</a:t>
            </a:r>
            <a:br/>
            <a:r>
              <a:t>Config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17720" y="4069080"/>
            <a:ext cx="91440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669279" y="3840480"/>
            <a:ext cx="640080" cy="64008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39" y="44805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0CEDE"/>
                </a:solidFill>
              </a:defRPr>
            </a:pPr>
            <a:r>
              <a:t>Stage</a:t>
            </a:r>
            <a:br/>
            <a:r>
              <a:t>Upload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355079" y="4069080"/>
            <a:ext cx="91440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406640" y="3840480"/>
            <a:ext cx="640080" cy="6400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4805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0CEDE"/>
                </a:solidFill>
              </a:defRPr>
            </a:pPr>
            <a:r>
              <a:t>Snowflake</a:t>
            </a:r>
            <a:br/>
            <a:r>
              <a:t>Deploy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3"/>
                </a:solidFill>
              </a:defRPr>
            </a:pPr>
            <a:r>
              <a:t>Zero-touch deployment from code commit to running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5448" y="1161288"/>
            <a:ext cx="1700784" cy="1700784"/>
          </a:xfrm>
          <a:prstGeom prst="roundRect">
            <a:avLst/>
          </a:prstGeom>
          <a:solidFill>
            <a:srgbClr val="6B7B9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2880" y="1188720"/>
            <a:ext cx="1645920" cy="16459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6B7B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1325880"/>
            <a:ext cx="457200" cy="457200"/>
          </a:xfrm>
          <a:prstGeom prst="ellipse">
            <a:avLst/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2880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B7B93"/>
                </a:solidFill>
              </a:defRPr>
            </a:pPr>
            <a:r>
              <a:t>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CEDE"/>
                </a:solidFill>
              </a:defRPr>
            </a:pPr>
            <a:r>
              <a:t>Push to</a:t>
            </a:r>
            <a:br/>
            <a:r>
              <a:t>main branch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83080" y="1920240"/>
            <a:ext cx="27432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984248" y="1161288"/>
            <a:ext cx="1700784" cy="1700784"/>
          </a:xfrm>
          <a:prstGeom prst="roundRect">
            <a:avLst/>
          </a:prstGeom>
          <a:solidFill>
            <a:srgbClr val="56CCF2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011680" y="1188720"/>
            <a:ext cx="1645920" cy="16459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560320" y="1325880"/>
            <a:ext cx="457200" cy="457200"/>
          </a:xfrm>
          <a:prstGeom prst="ellipse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82880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6CCF2"/>
                </a:solidFill>
              </a:defRPr>
            </a:pPr>
            <a: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CEDE"/>
                </a:solidFill>
              </a:defRPr>
            </a:pPr>
            <a:r>
              <a:t>Actions</a:t>
            </a:r>
            <a:br/>
            <a:r>
              <a:t>triggered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11880" y="1920240"/>
            <a:ext cx="27432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813048" y="1161288"/>
            <a:ext cx="1700784" cy="1700784"/>
          </a:xfrm>
          <a:prstGeom prst="roundRect">
            <a:avLst/>
          </a:prstGeom>
          <a:solidFill>
            <a:srgbClr val="F5A62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840480" y="1188720"/>
            <a:ext cx="1645920" cy="16459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389120" y="132588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182880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A623"/>
                </a:solidFill>
              </a:defRPr>
            </a:pPr>
            <a:r>
              <a:t>Secrets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CEDE"/>
                </a:solidFill>
              </a:defRPr>
            </a:pPr>
            <a:r>
              <a:t>SNOWFLAKE_ACCOUNT</a:t>
            </a:r>
            <a:br/>
            <a:r>
              <a:t>+ PASSWORD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1920240"/>
            <a:ext cx="27432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641848" y="1161288"/>
            <a:ext cx="1700784" cy="1700784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669280" y="1188720"/>
            <a:ext cx="1645920" cy="16459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217920" y="132588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182880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EC9B0"/>
                </a:solidFill>
              </a:defRPr>
            </a:pPr>
            <a:r>
              <a:t>Snow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CEDE"/>
                </a:solidFill>
              </a:defRPr>
            </a:pPr>
            <a:r>
              <a:t>stage copy /</a:t>
            </a:r>
            <a:br/>
            <a:r>
              <a:t>sql execute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269480" y="1920240"/>
            <a:ext cx="274320" cy="228600"/>
          </a:xfrm>
          <a:prstGeom prst="rightArrow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470647" y="1161288"/>
            <a:ext cx="1700784" cy="1700784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498079" y="1188720"/>
            <a:ext cx="1645920" cy="16459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046719" y="132588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19" y="182880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9B5E8"/>
                </a:solidFill>
              </a:defRPr>
            </a:pPr>
            <a:r>
              <a:t>Snowflake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19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0CEDE"/>
                </a:solidFill>
              </a:defRPr>
            </a:pPr>
            <a:r>
              <a:t>App live in</a:t>
            </a:r>
            <a:br/>
            <a:r>
              <a:t>Snowsight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3108960"/>
            <a:ext cx="8595360" cy="164592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3291840"/>
            <a:ext cx="8046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0CEDE"/>
                </a:solidFill>
              </a:defRPr>
            </a:pPr>
            <a:r>
              <a:t>✅  workflow_dispatch — manual trigger + full reseed option</a:t>
            </a:r>
          </a:p>
          <a:p>
            <a:pPr>
              <a:spcAft>
                <a:spcPts val="600"/>
              </a:spcAft>
              <a:defRPr sz="1100">
                <a:solidFill>
                  <a:srgbClr val="C0CEDE"/>
                </a:solidFill>
              </a:defRPr>
            </a:pPr>
            <a:r>
              <a:t>✅  Path-filtered triggers — only deploys what changed</a:t>
            </a:r>
          </a:p>
          <a:p>
            <a:pPr>
              <a:spcAft>
                <a:spcPts val="600"/>
              </a:spcAft>
              <a:defRPr sz="1100">
                <a:solidFill>
                  <a:srgbClr val="C0CEDE"/>
                </a:solidFill>
              </a:defRPr>
            </a:pPr>
            <a:r>
              <a:t>✅  Production environment gate — reviewer approval for DDL/DML</a:t>
            </a:r>
          </a:p>
          <a:p>
            <a:pPr>
              <a:spcAft>
                <a:spcPts val="600"/>
              </a:spcAft>
              <a:defRPr sz="1100">
                <a:solidFill>
                  <a:srgbClr val="C0CEDE"/>
                </a:solidFill>
              </a:defRPr>
            </a:pPr>
            <a:r>
              <a:t>✅  Verify step — confirms connection + lists stage after deploy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Live Demo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" y="886968"/>
            <a:ext cx="8467344" cy="713232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8412480" cy="658368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" y="987552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02412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CEDE"/>
                </a:solidFill>
              </a:defRPr>
            </a:pPr>
            <a:r>
              <a:t>User asks: “Monthly revenue trend for last 6 months?”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" y="1691640"/>
            <a:ext cx="8467344" cy="713232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" y="1719072"/>
            <a:ext cx="8412480" cy="658368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" y="1792224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CEDE"/>
                </a:solidFill>
              </a:defRPr>
            </a:pPr>
            <a:r>
              <a:t>LLM routes to V_MONTHLY_REVENUE — instant result (no SQL gen)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" y="2496312"/>
            <a:ext cx="8467344" cy="713232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5760" y="2523744"/>
            <a:ext cx="8412480" cy="658368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02920" y="2596896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33472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CEDE"/>
                </a:solidFill>
              </a:defRPr>
            </a:pPr>
            <a:r>
              <a:t>User asks: “Which stores have the highest revenue?”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" y="3300984"/>
            <a:ext cx="8467344" cy="713232"/>
          </a:xfrm>
          <a:prstGeom prst="roundRect">
            <a:avLst/>
          </a:prstGeom>
          <a:solidFill>
            <a:srgbClr val="B47AF5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65760" y="3328416"/>
            <a:ext cx="8412480" cy="658368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B47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2920" y="3401568"/>
            <a:ext cx="457200" cy="457200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438144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CEDE"/>
                </a:solidFill>
              </a:defRPr>
            </a:pPr>
            <a:r>
              <a:t>LLM generates SQL with live schema → validated +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" y="4105655"/>
            <a:ext cx="8467344" cy="713232"/>
          </a:xfrm>
          <a:prstGeom prst="roundRect">
            <a:avLst/>
          </a:prstGeom>
          <a:solidFill>
            <a:srgbClr val="4EC9B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65760" y="4133087"/>
            <a:ext cx="8412480" cy="658368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4EC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02920" y="4206239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242815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CEDE"/>
                </a:solidFill>
              </a:defRPr>
            </a:pPr>
            <a:r>
              <a:t>Results displayed: table + auto-chart + AI summary + confidence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93208"/>
            <a:ext cx="91440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E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583680" y="914400"/>
            <a:ext cx="1828800" cy="1828800"/>
          </a:xfrm>
          <a:prstGeom prst="ellipse">
            <a:avLst/>
          </a:prstGeom>
          <a:solidFill>
            <a:srgbClr val="15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0" y="2560320"/>
            <a:ext cx="1371600" cy="1371600"/>
          </a:xfrm>
          <a:prstGeom prst="ellipse">
            <a:avLst/>
          </a:prstGeom>
          <a:solidFill>
            <a:srgbClr val="12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645920"/>
            <a:ext cx="182880" cy="1828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0" y="2286000"/>
            <a:ext cx="137160" cy="137160"/>
          </a:xfrm>
          <a:prstGeom prst="ellipse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412480" y="1188720"/>
            <a:ext cx="109728" cy="109728"/>
          </a:xfrm>
          <a:prstGeom prst="ellipse">
            <a:avLst/>
          </a:prstGeom>
          <a:solidFill>
            <a:srgbClr val="B47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7315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508760"/>
            <a:ext cx="9144000" cy="27432"/>
          </a:xfrm>
          <a:prstGeom prst="rect">
            <a:avLst/>
          </a:prstGeom>
          <a:solidFill>
            <a:srgbClr val="56C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3"/>
                </a:solidFill>
              </a:defRPr>
            </a:pPr>
            <a:r>
              <a:t>Developed &amp; Submitted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Ramakrushna Dash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" y="2807208"/>
            <a:ext cx="4626864" cy="1883664"/>
          </a:xfrm>
          <a:prstGeom prst="roundRect">
            <a:avLst/>
          </a:prstGeom>
          <a:solidFill>
            <a:srgbClr val="29B5E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834640"/>
            <a:ext cx="4572000" cy="1828800"/>
          </a:xfrm>
          <a:prstGeom prst="roundRect">
            <a:avLst/>
          </a:prstGeom>
          <a:solidFill>
            <a:srgbClr val="121A2D"/>
          </a:solidFill>
          <a:ln w="1905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1752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0CEDE"/>
                </a:solidFill>
              </a:defRPr>
            </a:pPr>
            <a:r>
              <a:t>CoCoQuest — Theme 2: Data to Decisions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3375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0CEDE"/>
                </a:solidFill>
              </a:defRPr>
            </a:pPr>
            <a:r>
              <a:t>Built entirely with Snowflake Cortex + Cortex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49039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3"/>
                </a:solidFill>
              </a:defRPr>
            </a:pPr>
            <a:r>
              <a:t>🔗  GitHub Repository: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u="sng">
                <a:solidFill>
                  <a:srgbClr val="56CCF2"/>
                </a:solidFill>
                <a:hlinkClick r:id="rId2"/>
              </a:rPr>
              <a:t>github.com/ramakrushna1994/Snowflake-BI-Assistant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764</Words>
  <Application>Microsoft Office PowerPoint</Application>
  <PresentationFormat>On-screen Show (16:9)</PresentationFormat>
  <Paragraphs>229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Ramakrushna Dash</cp:lastModifiedBy>
  <cp:revision>3</cp:revision>
  <dcterms:created xsi:type="dcterms:W3CDTF">2013-01-27T09:14:16Z</dcterms:created>
  <dcterms:modified xsi:type="dcterms:W3CDTF">2026-08-10T06:35:19Z</dcterms:modified>
  <cp:category/>
</cp:coreProperties>
</file>